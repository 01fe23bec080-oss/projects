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7" r:id="rId11"/>
    <p:sldId id="266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B9205-2B19-43B5-B0DE-00C3FA5EB9DD}" v="74" dt="2026-01-15T17:22:28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E023E-FFED-4C6D-B272-FED97E7D7BD3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DE48-99E5-467F-A8C7-91E84FEAE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26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EDE48-99E5-467F-A8C7-91E84FEAEC7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18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2513-08CC-5B20-0D3C-89316582D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6F2EA-0D7D-177F-E8C6-BF6BEBA21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CA73F-14E3-BC31-5D66-90C03CDC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08AF1-AE57-E1CD-8AC6-54CB1C92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51979-C2D6-CE38-9DD5-87AFEB40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E424-8941-C4FC-1678-9CD86000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66A00-E288-7715-5F5A-6B38D300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ED6B-6678-C886-7844-691FA2ED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D4FB9-621E-45FE-BEA5-D669E67D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05B59-1E5F-F96A-BE82-EB03BB99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7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0986-BC70-5E66-E476-B7C4DF4E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7BC1-F269-4398-DA42-276DB9E43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25FA1-8616-97B1-5405-9B03AC59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F4A56-C56B-1EF4-D29F-9A122001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7F828-1AC4-C5C2-7987-6AB55C2A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4671-30BE-D4CA-97A3-FFD8C7C4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69D4-AAB9-D06F-1E9C-37C0F32D7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A658C-867C-DB35-865A-F5B4CB51C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E2034-5450-1D1F-1E4A-7F86D10A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B1F1-D6F0-26B2-E289-EFC35EDA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A4819-68CC-6C1B-4E01-EDCDBAEE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7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1E6C-6A92-3EBA-1685-CE788944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0C269-AC5E-7DFA-6421-9A4B52AB4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2E0B3-CC96-5F25-BF22-07F2BC22E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06D37-B857-EBFD-E895-CAF407AE8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FB981-B1DB-CAB3-48DD-3AE0184B3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BF21A-3671-857F-07D6-C7ED9266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02DE0-CA27-67B4-294A-9B0E0821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BF13B-75B0-6F7A-3B68-4028D164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76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6EB5-1FC3-E9CE-11EF-1E93B651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056B6-295B-E36D-47E1-05F8FBD1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B73CB-A136-99D1-6C04-AAC0A293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909E6-F827-2E19-834B-E5EFF3EF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7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0E3DC-2925-76ED-A86E-99987F3DC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2C665-D4F7-29E0-A2B3-366230C0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57718-6362-475D-0D66-BB9B459C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5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46B6-47F0-5F85-80D7-9856FC50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C84A3-8B29-69D0-7610-930C62BDE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8098B-326D-2BF9-8803-84AA8B4D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4F594-502E-77CF-2238-1D31518CE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0F23F-E356-137B-99B0-EDCFC9C0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9D69F-0D34-2724-57BF-660E8342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5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68BC-0597-B4D5-FD11-9F08A6B2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2F647-8B7D-8FB3-23CE-5F223F2BD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27ADA-4BA3-0C5C-028C-3AE2FD7A7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B50AE-57D9-1723-A19C-9C012807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20B2E-242B-1A01-70AD-50F604F6F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25AB5-3329-DE1F-6B05-433FAE52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5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B6A7-81CA-C885-88FE-E1C162F9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AC285-CCE4-D505-1446-973D6FB58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9DC1-9289-F87B-5AC9-F22A9EB4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A5175-383D-0FD6-11C9-874B4BCF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9984-819A-5267-8997-FBEC1989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1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8B6BBD-DEC2-1D1F-FD07-340B9DBCD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97607-99A5-F6A1-18C1-D86B49A1F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3C975-CF00-E564-0708-1EAF1335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29A4-5B80-2D82-3929-75289B9A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5348-7A9D-E0B6-6C01-EAE63145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1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803E21-DF47-EA04-3CC4-AA6B874F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10AB1-2644-E8C5-24B5-8EA900ACD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6478-AA51-B2D2-3182-E9321CE42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9E594-E228-4BBA-B983-57189B63AE4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B3F95-250C-66AA-E221-CCD44F0AA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931FC-5E9D-1626-557C-D9BF4117E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DD756-ACDC-441F-AA44-FF92EA5853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7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9653F3-6E47-0BE6-30D2-048D24B9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ABC6F6-5283-7B8D-3616-8D2F2D43C18A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1BDB62A-7B37-430E-782B-87C1DEDDB9D4}"/>
              </a:ext>
            </a:extLst>
          </p:cNvPr>
          <p:cNvSpPr txBox="1"/>
          <p:nvPr/>
        </p:nvSpPr>
        <p:spPr>
          <a:xfrm>
            <a:off x="235974" y="1091381"/>
            <a:ext cx="11641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 Printed Circuit Board Defect Detection Using      YOLOv12-S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CE443-9083-131E-683E-35FFF2C4D790}"/>
              </a:ext>
            </a:extLst>
          </p:cNvPr>
          <p:cNvSpPr txBox="1"/>
          <p:nvPr/>
        </p:nvSpPr>
        <p:spPr>
          <a:xfrm>
            <a:off x="5171768" y="2456418"/>
            <a:ext cx="317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10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33E7019-B2ED-C2FD-A291-9C8F9172C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0621"/>
              </p:ext>
            </p:extLst>
          </p:nvPr>
        </p:nvGraphicFramePr>
        <p:xfrm>
          <a:off x="1992671" y="3198238"/>
          <a:ext cx="8128000" cy="1483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92352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806497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472639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9240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74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Pooja R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01fe23bec080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8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Shrushti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Torgal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01fe23bec017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01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Brunda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01fe23bec019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93630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FFA8835-BD4D-8A5E-39F1-DC33D14FE877}"/>
              </a:ext>
            </a:extLst>
          </p:cNvPr>
          <p:cNvSpPr txBox="1"/>
          <p:nvPr/>
        </p:nvSpPr>
        <p:spPr>
          <a:xfrm>
            <a:off x="8711380" y="5397287"/>
            <a:ext cx="421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Ramesh A Tabib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302A24-275B-F891-FA59-784F7CCD7D01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12BBB7-BECA-B6B5-1C86-4775481EA76F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5605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0FF8-B3CD-D6B9-8818-489DDDAF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9FC921-4A5B-951D-2E8C-E8FFB3A0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5BB49-F42D-5BAB-6591-498BC82577E4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025198-52B3-AB7D-2B36-1974764D584B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51AA1FF-6E2E-C5BD-5327-43C3D1751D57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80759-0CC0-22FA-5A3E-860156C649BC}"/>
              </a:ext>
            </a:extLst>
          </p:cNvPr>
          <p:cNvSpPr txBox="1"/>
          <p:nvPr/>
        </p:nvSpPr>
        <p:spPr>
          <a:xfrm>
            <a:off x="491613" y="1347019"/>
            <a:ext cx="2821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5DDD2-F87B-1663-F0BE-8D60E8174DBD}"/>
              </a:ext>
            </a:extLst>
          </p:cNvPr>
          <p:cNvSpPr txBox="1"/>
          <p:nvPr/>
        </p:nvSpPr>
        <p:spPr>
          <a:xfrm>
            <a:off x="1056966" y="2057558"/>
            <a:ext cx="600751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Litreature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37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9956-23F4-4377-F2A1-D4F7DAB7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6E0F55-1BC5-F430-AF29-89577961E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0C4AB5-42A9-3196-790D-AFE6C8E7D4D7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4A9CB6-33D8-1E4D-38FF-8BD5EE325BB3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3C40E48-57EA-A798-BAD9-F7926613D2D8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BB99B-6FF1-8842-C74A-33B77C60F827}"/>
              </a:ext>
            </a:extLst>
          </p:cNvPr>
          <p:cNvSpPr txBox="1"/>
          <p:nvPr/>
        </p:nvSpPr>
        <p:spPr>
          <a:xfrm>
            <a:off x="550606" y="1081061"/>
            <a:ext cx="5545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A9B5F-F146-2187-035F-105C55E5111E}"/>
              </a:ext>
            </a:extLst>
          </p:cNvPr>
          <p:cNvSpPr txBox="1"/>
          <p:nvPr/>
        </p:nvSpPr>
        <p:spPr>
          <a:xfrm>
            <a:off x="373625" y="1586935"/>
            <a:ext cx="11444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an automated PCB defect detection system is required to accurately identify surface-level defects in high-density printed circuit boards. Manual inspection is slow, inconsistent, and unsuitable for high-speed industrial manufacturing lines. Existing deep learning-based methods struggle with microscopic, low-contrast, and overlapping defects in real-time conditions. Therefore, an efficient, accurate, and scalable automated inspection framework is essential for industrial PCB quality assurance.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91977-B4FB-CAB3-11CF-B047D3EA4557}"/>
              </a:ext>
            </a:extLst>
          </p:cNvPr>
          <p:cNvSpPr txBox="1"/>
          <p:nvPr/>
        </p:nvSpPr>
        <p:spPr>
          <a:xfrm>
            <a:off x="717755" y="3254477"/>
            <a:ext cx="258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F726C6-0538-B788-6024-190BE604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5" y="3716142"/>
            <a:ext cx="5715026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an automated PCB defect detection system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Accurately detect and classify critical PCB surface defects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detection of microscopic and low-contrast defects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high accuracy with ultra-low inference latency</a:t>
            </a:r>
          </a:p>
        </p:txBody>
      </p:sp>
    </p:spTree>
    <p:extLst>
      <p:ext uri="{BB962C8B-B14F-4D97-AF65-F5344CB8AC3E}">
        <p14:creationId xmlns:p14="http://schemas.microsoft.com/office/powerpoint/2010/main" val="139432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5008-4352-1962-72A0-272BB8E2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91452-13FC-2DEF-D85F-C715A983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49B622-DD4D-73A0-383F-495269C0E44D}"/>
              </a:ext>
            </a:extLst>
          </p:cNvPr>
          <p:cNvCxnSpPr>
            <a:cxnSpLocks/>
          </p:cNvCxnSpPr>
          <p:nvPr/>
        </p:nvCxnSpPr>
        <p:spPr>
          <a:xfrm flipH="1">
            <a:off x="0" y="857846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54ECCB-E070-E783-86EC-5366BE2B2424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152BE7-1137-EF0E-5E92-2EB25972A65D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36AB8-2376-CB4D-159E-531BFEE80BF8}"/>
              </a:ext>
            </a:extLst>
          </p:cNvPr>
          <p:cNvSpPr txBox="1"/>
          <p:nvPr/>
        </p:nvSpPr>
        <p:spPr>
          <a:xfrm>
            <a:off x="413387" y="1137201"/>
            <a:ext cx="4031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4B3A4E2-17C6-040D-6DE6-A764E365B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92" y="1809395"/>
            <a:ext cx="12075678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High-density and miniaturized PCBs contain microscopic surface defects that directly affect product reliability and safety.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and traditional AOI systems are slow and inconsistent, while existing deep learning models struggle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small, low-contrast, and overlapping defects.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methods fail to balance accurate detection of microscopic defects with real-time performance required for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production lines.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design an efficient YOLOv12-s–based framework using attention-guided feature learning and clean dataset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preparation without increasing model complexity.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scalable, accurate, and real-time PCB defect inspection system suitable for high-speed industrial manufacturing.</a:t>
            </a:r>
          </a:p>
        </p:txBody>
      </p:sp>
    </p:spTree>
    <p:extLst>
      <p:ext uri="{BB962C8B-B14F-4D97-AF65-F5344CB8AC3E}">
        <p14:creationId xmlns:p14="http://schemas.microsoft.com/office/powerpoint/2010/main" val="26661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3EBF-96D8-1B50-10CB-3C011BD3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0CA70-C222-3639-5577-3812049A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A87904-1D24-9A1D-2DEA-49380188FE4E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A3AA34-5C61-E2F5-343C-0CD20FE81DC9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E3F27F-0E3A-EA57-7045-942ADBE17B6C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F8C91-C6F8-B1A6-AFBB-8ABA904E19A4}"/>
              </a:ext>
            </a:extLst>
          </p:cNvPr>
          <p:cNvSpPr txBox="1"/>
          <p:nvPr/>
        </p:nvSpPr>
        <p:spPr>
          <a:xfrm>
            <a:off x="245806" y="1101213"/>
            <a:ext cx="6440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Litrerature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4245E8-7EB0-FA28-4847-446E97F1C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07266"/>
              </p:ext>
            </p:extLst>
          </p:nvPr>
        </p:nvGraphicFramePr>
        <p:xfrm>
          <a:off x="609600" y="1562878"/>
          <a:ext cx="11346425" cy="4407423"/>
        </p:xfrm>
        <a:graphic>
          <a:graphicData uri="http://schemas.openxmlformats.org/drawingml/2006/table">
            <a:tbl>
              <a:tblPr/>
              <a:tblGrid>
                <a:gridCol w="2269285">
                  <a:extLst>
                    <a:ext uri="{9D8B030D-6E8A-4147-A177-3AD203B41FA5}">
                      <a16:colId xmlns:a16="http://schemas.microsoft.com/office/drawing/2014/main" val="4034084331"/>
                    </a:ext>
                  </a:extLst>
                </a:gridCol>
                <a:gridCol w="2269285">
                  <a:extLst>
                    <a:ext uri="{9D8B030D-6E8A-4147-A177-3AD203B41FA5}">
                      <a16:colId xmlns:a16="http://schemas.microsoft.com/office/drawing/2014/main" val="3495261612"/>
                    </a:ext>
                  </a:extLst>
                </a:gridCol>
                <a:gridCol w="2269285">
                  <a:extLst>
                    <a:ext uri="{9D8B030D-6E8A-4147-A177-3AD203B41FA5}">
                      <a16:colId xmlns:a16="http://schemas.microsoft.com/office/drawing/2014/main" val="1327496401"/>
                    </a:ext>
                  </a:extLst>
                </a:gridCol>
                <a:gridCol w="2269285">
                  <a:extLst>
                    <a:ext uri="{9D8B030D-6E8A-4147-A177-3AD203B41FA5}">
                      <a16:colId xmlns:a16="http://schemas.microsoft.com/office/drawing/2014/main" val="382225118"/>
                    </a:ext>
                  </a:extLst>
                </a:gridCol>
                <a:gridCol w="2269285">
                  <a:extLst>
                    <a:ext uri="{9D8B030D-6E8A-4147-A177-3AD203B41FA5}">
                      <a16:colId xmlns:a16="http://schemas.microsoft.com/office/drawing/2014/main" val="4212574818"/>
                    </a:ext>
                  </a:extLst>
                </a:gridCol>
              </a:tblGrid>
              <a:tr h="209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Model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Strengths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Gaps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0128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Redmon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(2016)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detection, fast inference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on small objects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PCB micro-defects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31469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 </a:t>
                      </a: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(2019)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CNN + PCB Dataset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PCB defect dataset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generalization, no real-time support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Dataset-focused work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4242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</a:t>
                      </a: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(2022)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Transformer-YOLO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global context modelling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practical for industrial deployment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361859"/>
                  </a:ext>
                </a:extLst>
              </a:tr>
              <a:tr h="68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 </a:t>
                      </a: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YOLOv5-based PCB Detection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speed over CNN methods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low-contrast and overlapping defects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attention modeling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6944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 </a:t>
                      </a: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YOLO (SGT-YOLO)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model size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drops for complex defects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Trade-off between speed and accuracy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14889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Yuan </a:t>
                      </a: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YOLO-SSW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feature extraction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dataset noise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 consistency not addressed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643379"/>
                  </a:ext>
                </a:extLst>
              </a:tr>
              <a:tr h="838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YOLOv12-s + Area Attention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real-time, attention-guided detection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—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accuracy, speed, and dataset issues simultaneously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2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29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21B2-71D1-DC73-DCDE-B6E7E84C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C09552-188A-86DA-E9BF-8DD3D13D7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14E60E-ACCE-564C-B3F7-2AC8AA365DD4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0A575B-62E2-E867-6A3C-1741E1173414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10A899-CD25-105A-1AF2-57651226CCDA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DEEEF-84EB-07FB-19E4-C0BC8CDF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44" b="29892"/>
          <a:stretch>
            <a:fillRect/>
          </a:stretch>
        </p:blipFill>
        <p:spPr>
          <a:xfrm>
            <a:off x="952500" y="1936957"/>
            <a:ext cx="10287000" cy="2871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C3C324-13E1-E875-D0A7-DADBF23C03B9}"/>
              </a:ext>
            </a:extLst>
          </p:cNvPr>
          <p:cNvSpPr txBox="1"/>
          <p:nvPr/>
        </p:nvSpPr>
        <p:spPr>
          <a:xfrm>
            <a:off x="304800" y="926672"/>
            <a:ext cx="5319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174085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BF5A-FC09-5FCD-324B-B0AEC9A8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16ADC-B967-4C27-9D11-3527065EF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1E9386-B5E3-CB61-D6A7-6EBFDBD7DBE3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FE2224-01E2-9A52-CEFD-ADA18E681CD5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D8746AF-E35F-511F-00F2-7DE7FC20698A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4CDAA-73E2-8873-A80B-C5CD29849205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9209F9-6581-01C0-4166-7CD1DDAF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5" y="1462420"/>
            <a:ext cx="5909187" cy="3512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AEB7A9-0F2F-45B7-8C9C-D582AFC9CED5}"/>
              </a:ext>
            </a:extLst>
          </p:cNvPr>
          <p:cNvSpPr txBox="1"/>
          <p:nvPr/>
        </p:nvSpPr>
        <p:spPr>
          <a:xfrm>
            <a:off x="98323" y="1657449"/>
            <a:ext cx="61058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trend analysis illustrates the growth of research activity in automated PCB defect detection from </a:t>
            </a:r>
            <a:r>
              <a:rPr lang="en-US" b="1" dirty="0"/>
              <a:t>2015 to 2025</a:t>
            </a:r>
            <a:r>
              <a:rPr lang="en-US" dirty="0"/>
              <a:t>, based on conference and journal publications.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Conference publications show a sharp and continuous increase, indicating rapid innovation and early adoption of deep learning techniques in this domain.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Journal publications also grow steadily, reflecting the gradual maturation and validation of these methods for industrial use. A significant rise after </a:t>
            </a:r>
            <a:r>
              <a:rPr lang="en-US" b="1" dirty="0"/>
              <a:t>2019</a:t>
            </a:r>
            <a:r>
              <a:rPr lang="en-US" dirty="0"/>
              <a:t> highlights the impact of </a:t>
            </a:r>
            <a:r>
              <a:rPr lang="en-US" b="1" dirty="0"/>
              <a:t>YOLO-based object detection frameworks</a:t>
            </a:r>
            <a:r>
              <a:rPr lang="en-US" dirty="0"/>
              <a:t> and attention mechanisms in PCB inspection research.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This sustained growth demonstrates increasing industrial demand for </a:t>
            </a:r>
            <a:r>
              <a:rPr lang="en-US" b="1" dirty="0"/>
              <a:t>real-time, accurate, and scalable PCB defect detection systems</a:t>
            </a:r>
            <a:r>
              <a:rPr lang="en-US" dirty="0"/>
              <a:t>, thereby strongly motivating the proposed YOLOv12-s–based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43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A961-F842-C242-F2D8-12A66503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1A0AAE-5E7F-BD7C-2E81-C91F46B4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53A57A-9218-4F29-6DD2-1C02889636F7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93DFBA-4D40-D0D7-454D-0AB1EA58A25A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DCD97B-9579-8DD8-C768-4BB0B4729213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E776F9-13A0-81CA-9269-EBA6D1E35197}"/>
              </a:ext>
            </a:extLst>
          </p:cNvPr>
          <p:cNvSpPr txBox="1"/>
          <p:nvPr/>
        </p:nvSpPr>
        <p:spPr>
          <a:xfrm>
            <a:off x="304800" y="1052052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Methodlogy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50FEDE-E22E-E4E4-1E52-7AF276922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96" y="1558631"/>
            <a:ext cx="1072280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Acquisition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Capture high-resolution PCB images using AOI or industrial cameras.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Apply label alignment, repair, and synchronization to ensure consistent annotations.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Resize images to uniform size (640×640) and normalize pixel values for stable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(R-ELAN Backbone)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Extract multi-scale hierarchical features while preserving fine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PCB trace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 Attention Mechanism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Highlight defect-prone regions to improve detection of microscopic, low-contrast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defects.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Feature Fusion (FPN + PAN)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Combine high-level semantic and low-level spatial features for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consistent detection across defect sizes.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Decoupled Detection 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Separate bounding box regression and defect classification for accurate predictions.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 combined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BCE + DFL to optimize localization and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 Pipeline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Single-stage, forward-pass detection ensuring real-time performance with low latency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(~3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image).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Predict defect type and location for six classes – Open, Short,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Mousebite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Spur,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Spurious Copper, Missing Hole.</a:t>
            </a:r>
          </a:p>
        </p:txBody>
      </p:sp>
    </p:spTree>
    <p:extLst>
      <p:ext uri="{BB962C8B-B14F-4D97-AF65-F5344CB8AC3E}">
        <p14:creationId xmlns:p14="http://schemas.microsoft.com/office/powerpoint/2010/main" val="243856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4C59-0438-6D0C-5E77-A0BA0954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FE3503-9713-5A02-33F2-0D4C40B7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A027F7-587F-3680-9606-E2286E7CD705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FB4873-6725-9081-20A3-B82DDD30C65D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552D1AD-C354-DD5F-13EE-5BF58A65A2B4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DB5FB-205E-9DC8-EC8E-EBBA1FFFAA3A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D6B08E-D383-4F97-35CA-6EA3A2BC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99" y="1953468"/>
            <a:ext cx="11112401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Attention-Guided Detection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Introduces an Area Attention ($A^2$) mechanism to focus on defect-prone regions.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Feature Extraction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Uses R-ELAN backbone for multi-scale feature representation while preserving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fine PCB traces.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Decoupled Detection 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Separates bounding box regression and classification for improved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Loss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Integrates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BCE, and DFL for precise localization and defect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Repair Protocol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Corrects dataset inconsistencies, ensuring reliable and reproducible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Achieves real-time inference (~3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image) with mAP@50 of 98.61%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DeepPCB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2150155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154A-3212-7B75-8670-AED3FFD4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87ABB-8AF3-0A80-C2D9-91EB30B4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406395-1901-D1FA-9841-F1AF8DED0443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AD4356-2212-D742-16B5-8001F3B6E229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BB03377-A0F2-2CC0-ABBA-D2843D096DD1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A34E1-4677-46E8-D64C-5890A840081F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1E0A87C-64B1-A647-10F3-D79AB1E5E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738" y="924197"/>
            <a:ext cx="4710107" cy="280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6058DEB-2819-8F16-17DF-FABF2A74D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470" y="3734069"/>
            <a:ext cx="2835707" cy="254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5D971E-D3EC-99F4-676F-6A08DECE74F6}"/>
              </a:ext>
            </a:extLst>
          </p:cNvPr>
          <p:cNvSpPr txBox="1"/>
          <p:nvPr/>
        </p:nvSpPr>
        <p:spPr>
          <a:xfrm>
            <a:off x="442452" y="1501559"/>
            <a:ext cx="68152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presented results summarize both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characteristics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class-wise detection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proposed PCB defect detection framework.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a realistic distribution of defects, where open circuit defects dominate with 34.0%, followed by short circuits at 19.6%, while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mousebite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spur, and spurious copper defects are nearly evenly distributed at around 15% each, indicating moderate class imbalance.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this imbalance, the proposed YOLOv12-s model achieves consistently high detection accuracy across all defect categories. Spurious copper and short circuit defects achieve the highest mAP@50 values of 99.3% and 99.2%, respectively, while challenging micro-defects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mousebite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spur reach 98.6% and 98.4%. Open circuit defects also maintain reliable performance at 97.6%. These results demonstrate that the proposed framework effectively handles both dominant and minority defect classes, confirming its suitability for accurate and real-time industrial PCB inspection.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623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D44D-A5E1-90F4-918F-8407AE1A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525381-5DEC-4260-8D79-B494AC025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826-5F4C-E34F-C48A-71A211CAF63D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D44D81-56FC-8AD9-958B-D3977C9B13D3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CC2E0-2F7F-21C3-BD53-4BA6B0671A80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9F571A-4D7C-B882-454E-BCB1528D14FD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C3E098-82AC-6F3B-E02F-AC7D45609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99" y="1953468"/>
            <a:ext cx="11112401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Attention-Guided Detection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Introduces an Area Attention ($A^2$) mechanism to focus on defect-prone regions.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Feature Extraction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Uses R-ELAN backbone for multi-scale feature representation while preserving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fine PCB traces.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Decoupled Detection 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Separates bounding box regression and classification for improved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Loss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Integrates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BCE, and DFL for precise localization and defect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Repair Protocol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Corrects dataset inconsistencies, ensuring reliable and reproducible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Achieves real-time inference (~3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image) with mAP@50 of 98.61%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DeepPCB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1627461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B015-FA37-5C5F-330B-B76BDF08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1540BA-3F4B-A352-6A05-B623063B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3257AD-DAF5-1C25-D430-EB1C2F970C5B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A9991D-6F55-9626-8867-26C066962A26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59ECF4A-5B14-529B-EBEF-EB8473F616B0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BA838F-A391-31AE-676C-B1B9715487D9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A022EA-B898-E1EE-58EA-6410B9E26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03" y="1678424"/>
            <a:ext cx="1092478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framework to detect sub-surface and internal PCB defects by integrating X-ray or multimodal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inspection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robustness under varying illumination and noise conditions using adaptive preprocessing and domain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for edge and embedded deployment by applying pruning and quantization while maintaining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evaluation to larger and more diverse industrial datasets to ensure generalization across different PCB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layouts and manufacturers.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self-supervised and semi-supervised learning to reduce dependency on fully annotated PCB datasets.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818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3C70-C3DD-E849-E730-BD6CC842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20A00B-E122-9459-6D7A-FB819377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7CBCD-5F45-1257-CBDB-335146787290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37BEC1-571A-FCC9-6E1B-D88236E56466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238646-3CD8-559F-BB84-075BBD8FCBE4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2DF21-CF92-712C-D391-0C9707D758F0}"/>
              </a:ext>
            </a:extLst>
          </p:cNvPr>
          <p:cNvSpPr txBox="1"/>
          <p:nvPr/>
        </p:nvSpPr>
        <p:spPr>
          <a:xfrm>
            <a:off x="442452" y="1071716"/>
            <a:ext cx="3510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CA21946-B7C0-9964-52BA-C49FE8D66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76" y="1960803"/>
            <a:ext cx="120654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Redmon, S.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Divvala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A. Farhadi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“You Only Look Once: Unified, Real-Time Object Detection,”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Conference on Computer Vision and Pattern Recognition (CVPR)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pp. 779–788, 2016.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Tang, C. Luo, Y. Wang, and X. Zhang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“Online PCB Defect Detector on a New PCB Defect Dataset,”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arXiv:1902.06197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“YOLOv12: Attention-Centric Real-Time Object Detectors,” GitHub Repository, 2025. Available online.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Yuan, X. Li, and H. Zhang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“YOLO-SSW: An Improved Detection Method for Printed Circuit Board Surface Defects,”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13,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Shen, Y. Liu, and K. Wang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“Defect Detection of Printed Circuit Board Assembly Based on YOLOv5,”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vol. 14,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Xiao, H. Zhang, and L. Chen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“PCB Defect Detection Algorithm Based on CDI-YOLO,”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X. Chen, L. Zhang, and K. Wang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“YOLO-PCBI: An Enhanced Object Detection Network for Microscopic PCB Defects,”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Robotics and Automation Letters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3, pp. 2145–2152,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Liu and K. Wang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“Optimizing Feature Pyramids for Small Object Detection in Printed Circuit Boards,”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Instrumentation and Measurement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73, pp. 1–12, 2025.</a:t>
            </a:r>
          </a:p>
        </p:txBody>
      </p:sp>
    </p:spTree>
    <p:extLst>
      <p:ext uri="{BB962C8B-B14F-4D97-AF65-F5344CB8AC3E}">
        <p14:creationId xmlns:p14="http://schemas.microsoft.com/office/powerpoint/2010/main" val="1585575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2519-EC14-25D8-8653-2BB0668F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96D287-F1A6-1241-9EF0-C2CF9BCCA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27" y="0"/>
            <a:ext cx="3560373" cy="92667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D5953C-7BA3-42D5-B2C9-347D916D372D}"/>
              </a:ext>
            </a:extLst>
          </p:cNvPr>
          <p:cNvCxnSpPr>
            <a:cxnSpLocks/>
          </p:cNvCxnSpPr>
          <p:nvPr/>
        </p:nvCxnSpPr>
        <p:spPr>
          <a:xfrm flipH="1">
            <a:off x="0" y="926672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191016-8E25-40D8-79BE-EA6BF3BE5094}"/>
              </a:ext>
            </a:extLst>
          </p:cNvPr>
          <p:cNvCxnSpPr>
            <a:cxnSpLocks/>
          </p:cNvCxnSpPr>
          <p:nvPr/>
        </p:nvCxnSpPr>
        <p:spPr>
          <a:xfrm flipH="1">
            <a:off x="0" y="6358543"/>
            <a:ext cx="1219200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43B374-F1C5-DC65-44BE-7CC262980D84}"/>
              </a:ext>
            </a:extLst>
          </p:cNvPr>
          <p:cNvSpPr txBox="1"/>
          <p:nvPr/>
        </p:nvSpPr>
        <p:spPr>
          <a:xfrm>
            <a:off x="3805083" y="6361019"/>
            <a:ext cx="651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CD946-A145-5B60-D589-670B7905147D}"/>
              </a:ext>
            </a:extLst>
          </p:cNvPr>
          <p:cNvSpPr txBox="1"/>
          <p:nvPr/>
        </p:nvSpPr>
        <p:spPr>
          <a:xfrm>
            <a:off x="4296697" y="2934721"/>
            <a:ext cx="95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760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1573</Words>
  <Application>Microsoft Office PowerPoint</Application>
  <PresentationFormat>Widescreen</PresentationFormat>
  <Paragraphs>170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poojark090505@gmail.com</dc:creator>
  <cp:lastModifiedBy>poojark090505@gmail.com</cp:lastModifiedBy>
  <cp:revision>2</cp:revision>
  <dcterms:created xsi:type="dcterms:W3CDTF">2026-01-15T13:29:28Z</dcterms:created>
  <dcterms:modified xsi:type="dcterms:W3CDTF">2026-01-18T13:20:15Z</dcterms:modified>
</cp:coreProperties>
</file>